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000">
            <a:solidFill>
              <a:srgbClr val="F8FAFC"/>
            </a:solidFill>
          </a:ln>
        </p:spPr>
        <p:txBody>
          <a:bodyPr wrap="square" anchor="mid"/>
          <a:lstStyle/>
          <a:p>
            <a:pPr algn="ctr"/>
            <a:r>
              <a:rPr lang="zh-CN" sz="1400" b="0">
                <a:solidFill>
                  <a:srgbClr val="1118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zh-CN" sz="3000" b="1">
                <a:solidFill>
                  <a:srgbClr val="0F172A"/>
                </a:solidFill>
                <a:latin typeface="Microsoft YaHei"/>
                <a:ea typeface="Microsoft YaHei"/>
              </a:rPr>
              <a:t>TRP Agent ???????</a:t>
            </a:r>
          </a:p>
        </p:txBody>
      </p:sp>
      <p:sp>
        <p:nvSpPr>
          <p:cNvPr id="4" name="sub"/>
          <p:cNvSpPr txBox="1"/>
          <p:nvPr/>
        </p:nvSpPr>
        <p:spPr>
          <a:xfrm>
            <a:off x="429768" y="71323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zh-CN" sz="1300" b="0">
                <a:solidFill>
                  <a:srgbClr val="475569"/>
                </a:solidFill>
                <a:latin typeface="Microsoft YaHei"/>
                <a:ea typeface="Microsoft YaHei"/>
              </a:rPr>
              <a:t>4A ??? DeepAgents ???????????????????????</a:t>
            </a:r>
          </a:p>
        </p:txBody>
      </p:sp>
      <p:sp>
        <p:nvSpPr>
          <p:cNvPr id="5" name="Delivery Surfaces HTTP / SSE / Batch / CLI"/>
          <p:cNvSpPr/>
          <p:nvPr/>
        </p:nvSpPr>
        <p:spPr>
          <a:xfrm>
            <a:off x="502920" y="1325880"/>
            <a:ext cx="2331720" cy="960120"/>
          </a:xfrm>
          <a:prstGeom prst="roundRect">
            <a:avLst/>
          </a:prstGeom>
          <a:solidFill>
            <a:srgbClr val="DBEAFE"/>
          </a:solidFill>
          <a:ln w="120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500" b="1">
                <a:solidFill>
                  <a:srgbClr val="111827"/>
                </a:solidFill>
                <a:latin typeface="Microsoft YaHei"/>
                <a:ea typeface="Microsoft YaHei"/>
              </a:rPr>
              <a:t>Delivery Surfaces</a:t>
            </a:r>
          </a:p>
          <a:p>
            <a:pPr algn="ctr"/>
            <a:r>
              <a:rPr lang="zh-CN" sz="1500" b="1">
                <a:solidFill>
                  <a:srgbClr val="111827"/>
                </a:solidFill>
                <a:latin typeface="Microsoft YaHei"/>
                <a:ea typeface="Microsoft YaHei"/>
              </a:rPr>
              <a:t>HTTP / SSE / Batch / CLI</a:t>
            </a:r>
          </a:p>
        </p:txBody>
      </p:sp>
      <p:sp>
        <p:nvSpPr>
          <p:cNvPr id="6" name="Runtime Adapters Executor / Checkpoint / AG-UI / SSE"/>
          <p:cNvSpPr/>
          <p:nvPr/>
        </p:nvSpPr>
        <p:spPr>
          <a:xfrm>
            <a:off x="3246120" y="1325880"/>
            <a:ext cx="2331720" cy="960120"/>
          </a:xfrm>
          <a:prstGeom prst="roundRect">
            <a:avLst/>
          </a:prstGeom>
          <a:solidFill>
            <a:srgbClr val="E0E7FF"/>
          </a:solidFill>
          <a:ln w="12000">
            <a:solidFill>
              <a:srgbClr val="4F46E5"/>
            </a:solidFill>
          </a:ln>
        </p:spPr>
        <p:txBody>
          <a:bodyPr wrap="square" anchor="mid"/>
          <a:lstStyle/>
          <a:p>
            <a:pPr algn="ctr"/>
            <a:r>
              <a:rPr lang="zh-CN" sz="1500" b="1">
                <a:solidFill>
                  <a:srgbClr val="111827"/>
                </a:solidFill>
                <a:latin typeface="Microsoft YaHei"/>
                <a:ea typeface="Microsoft YaHei"/>
              </a:rPr>
              <a:t>Runtime Adapters</a:t>
            </a:r>
          </a:p>
          <a:p>
            <a:pPr algn="ctr"/>
            <a:r>
              <a:rPr lang="zh-CN" sz="1500" b="1">
                <a:solidFill>
                  <a:srgbClr val="111827"/>
                </a:solidFill>
                <a:latin typeface="Microsoft YaHei"/>
                <a:ea typeface="Microsoft YaHei"/>
              </a:rPr>
              <a:t>Executor / Checkpoint / AG-UI / SSE</a:t>
            </a:r>
          </a:p>
        </p:txBody>
      </p:sp>
      <p:sp>
        <p:nvSpPr>
          <p:cNvPr id="7" name="Agent Harness Graph / Instructions / Tools / Context"/>
          <p:cNvSpPr/>
          <p:nvPr/>
        </p:nvSpPr>
        <p:spPr>
          <a:xfrm>
            <a:off x="5989320" y="1325880"/>
            <a:ext cx="2331720" cy="960120"/>
          </a:xfrm>
          <a:prstGeom prst="roundRect">
            <a:avLst/>
          </a:prstGeom>
          <a:solidFill>
            <a:srgbClr val="DCFCE7"/>
          </a:solidFill>
          <a:ln w="12000">
            <a:solidFill>
              <a:srgbClr val="16A34A"/>
            </a:solidFill>
          </a:ln>
        </p:spPr>
        <p:txBody>
          <a:bodyPr wrap="square" anchor="mid"/>
          <a:lstStyle/>
          <a:p>
            <a:pPr algn="ctr"/>
            <a:r>
              <a:rPr lang="zh-CN" sz="1500" b="1">
                <a:solidFill>
                  <a:srgbClr val="111827"/>
                </a:solidFill>
                <a:latin typeface="Microsoft YaHei"/>
                <a:ea typeface="Microsoft YaHei"/>
              </a:rPr>
              <a:t>Agent Harness</a:t>
            </a:r>
          </a:p>
          <a:p>
            <a:pPr algn="ctr"/>
            <a:r>
              <a:rPr lang="zh-CN" sz="1500" b="1">
                <a:solidFill>
                  <a:srgbClr val="111827"/>
                </a:solidFill>
                <a:latin typeface="Microsoft YaHei"/>
                <a:ea typeface="Microsoft YaHei"/>
              </a:rPr>
              <a:t>Graph / Instructions / Tools / Context</a:t>
            </a:r>
          </a:p>
        </p:txBody>
      </p:sp>
      <p:sp>
        <p:nvSpPr>
          <p:cNvPr id="8" name="Business Subsystems Answers / References / Analysis"/>
          <p:cNvSpPr/>
          <p:nvPr/>
        </p:nvSpPr>
        <p:spPr>
          <a:xfrm>
            <a:off x="8732520" y="1325880"/>
            <a:ext cx="2331720" cy="960120"/>
          </a:xfrm>
          <a:prstGeom prst="roundRect">
            <a:avLst/>
          </a:prstGeom>
          <a:solidFill>
            <a:srgbClr val="FEF3C7"/>
          </a:solidFill>
          <a:ln w="12000">
            <a:solidFill>
              <a:srgbClr val="D97706"/>
            </a:solidFill>
          </a:ln>
        </p:spPr>
        <p:txBody>
          <a:bodyPr wrap="square" anchor="mid"/>
          <a:lstStyle/>
          <a:p>
            <a:pPr algn="ctr"/>
            <a:r>
              <a:rPr lang="zh-CN" sz="1500" b="1">
                <a:solidFill>
                  <a:srgbClr val="111827"/>
                </a:solidFill>
                <a:latin typeface="Microsoft YaHei"/>
                <a:ea typeface="Microsoft YaHei"/>
              </a:rPr>
              <a:t>Business Subsystems</a:t>
            </a:r>
          </a:p>
          <a:p>
            <a:pPr algn="ctr"/>
            <a:r>
              <a:rPr lang="zh-CN" sz="1500" b="1">
                <a:solidFill>
                  <a:srgbClr val="111827"/>
                </a:solidFill>
                <a:latin typeface="Microsoft YaHei"/>
                <a:ea typeface="Microsoft YaHei"/>
              </a:rPr>
              <a:t>Answers / References / Analysis</a:t>
            </a:r>
          </a:p>
        </p:txBody>
      </p:sp>
      <p:cxnSp>
        <p:nvCxnSpPr>
          <p:cNvPr id="9" name="arrow"/>
          <p:cNvCxnSpPr/>
          <p:nvPr/>
        </p:nvCxnSpPr>
        <p:spPr>
          <a:xfrm>
            <a:off x="2834639" y="1810512"/>
            <a:ext cx="274321" cy="1"/>
          </a:xfrm>
          <a:prstGeom prst="straightConnector1">
            <a:avLst/>
          </a:prstGeom>
          <a:ln w="22000">
            <a:solidFill>
              <a:srgbClr val="64748B"/>
            </a:solidFill>
            <a:headEnd type="triangle"/>
          </a:ln>
        </p:spPr>
      </p:cxnSp>
      <p:cxnSp>
        <p:nvCxnSpPr>
          <p:cNvPr id="10" name="arrow"/>
          <p:cNvCxnSpPr/>
          <p:nvPr/>
        </p:nvCxnSpPr>
        <p:spPr>
          <a:xfrm>
            <a:off x="5577840" y="1810512"/>
            <a:ext cx="274319" cy="1"/>
          </a:xfrm>
          <a:prstGeom prst="straightConnector1">
            <a:avLst/>
          </a:prstGeom>
          <a:ln w="22000">
            <a:solidFill>
              <a:srgbClr val="64748B"/>
            </a:solidFill>
            <a:headEnd type="triangle"/>
          </a:ln>
        </p:spPr>
      </p:cxnSp>
      <p:cxnSp>
        <p:nvCxnSpPr>
          <p:cNvPr id="11" name="arrow"/>
          <p:cNvCxnSpPr/>
          <p:nvPr/>
        </p:nvCxnSpPr>
        <p:spPr>
          <a:xfrm>
            <a:off x="8321040" y="1810512"/>
            <a:ext cx="274320" cy="1"/>
          </a:xfrm>
          <a:prstGeom prst="straightConnector1">
            <a:avLst/>
          </a:prstGeom>
          <a:ln w="22000">
            <a:solidFill>
              <a:srgbClr val="64748B"/>
            </a:solidFill>
            <a:headEnd type="triangle"/>
          </a:ln>
        </p:spPr>
      </p:cxnSp>
      <p:sp>
        <p:nvSpPr>
          <p:cNvPr id="12" name="????"/>
          <p:cNvSpPr/>
          <p:nvPr/>
        </p:nvSpPr>
        <p:spPr>
          <a:xfrm>
            <a:off x="594360" y="2743200"/>
            <a:ext cx="2148840" cy="411480"/>
          </a:xfrm>
          <a:prstGeom prst="roundRect">
            <a:avLst/>
          </a:prstGeom>
          <a:solidFill>
            <a:srgbClr val="EFF6FF"/>
          </a:solidFill>
          <a:ln w="120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Microsoft YaHei"/>
                <a:ea typeface="Microsoft YaHei"/>
              </a:rPr>
              <a:t>????</a:t>
            </a:r>
          </a:p>
        </p:txBody>
      </p:sp>
      <p:sp>
        <p:nvSpPr>
          <p:cNvPr id="13" name="/chat /chat/stream /batch main.py"/>
          <p:cNvSpPr/>
          <p:nvPr/>
        </p:nvSpPr>
        <p:spPr>
          <a:xfrm>
            <a:off x="594360" y="3246120"/>
            <a:ext cx="2148840" cy="105156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200" b="0">
                <a:solidFill>
                  <a:srgbClr val="111827"/>
                </a:solidFill>
                <a:latin typeface="Microsoft YaHei"/>
                <a:ea typeface="Microsoft YaHei"/>
              </a:rPr>
              <a:t>/chat</a:t>
            </a:r>
          </a:p>
          <a:p>
            <a:pPr algn="ctr"/>
            <a:r>
              <a:rPr lang="zh-CN" sz="1200" b="0">
                <a:solidFill>
                  <a:srgbClr val="111827"/>
                </a:solidFill>
                <a:latin typeface="Microsoft YaHei"/>
                <a:ea typeface="Microsoft YaHei"/>
              </a:rPr>
              <a:t>/chat/stream</a:t>
            </a:r>
          </a:p>
          <a:p>
            <a:pPr algn="ctr"/>
            <a:r>
              <a:rPr lang="zh-CN" sz="1200" b="0">
                <a:solidFill>
                  <a:srgbClr val="111827"/>
                </a:solidFill>
                <a:latin typeface="Microsoft YaHei"/>
                <a:ea typeface="Microsoft YaHei"/>
              </a:rPr>
              <a:t>/batch</a:t>
            </a:r>
          </a:p>
          <a:p>
            <a:pPr algn="ctr"/>
            <a:r>
              <a:rPr lang="zh-CN" sz="1200" b="0">
                <a:solidFill>
                  <a:srgbClr val="111827"/>
                </a:solidFill>
                <a:latin typeface="Microsoft YaHei"/>
                <a:ea typeface="Microsoft YaHei"/>
              </a:rPr>
              <a:t>main.py</a:t>
            </a:r>
          </a:p>
        </p:txBody>
      </p:sp>
      <p:sp>
        <p:nvSpPr>
          <p:cNvPr id="14" name="????"/>
          <p:cNvSpPr/>
          <p:nvPr/>
        </p:nvSpPr>
        <p:spPr>
          <a:xfrm>
            <a:off x="3337560" y="2743200"/>
            <a:ext cx="2148840" cy="411480"/>
          </a:xfrm>
          <a:prstGeom prst="roundRect">
            <a:avLst/>
          </a:prstGeom>
          <a:solidFill>
            <a:srgbClr val="EEF2FF"/>
          </a:solidFill>
          <a:ln w="12000">
            <a:solidFill>
              <a:srgbClr val="4F46E5"/>
            </a:solidFill>
          </a:ln>
        </p:spPr>
        <p:txBody>
          <a:bodyPr wrap="square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Microsoft YaHei"/>
                <a:ea typeface="Microsoft YaHei"/>
              </a:rPr>
              <a:t>????</a:t>
            </a:r>
          </a:p>
        </p:txBody>
      </p:sp>
      <p:sp>
        <p:nvSpPr>
          <p:cNvPr id="15" name="execute_turn stream_turn state/history observability"/>
          <p:cNvSpPr/>
          <p:nvPr/>
        </p:nvSpPr>
        <p:spPr>
          <a:xfrm>
            <a:off x="3337560" y="3246120"/>
            <a:ext cx="2148840" cy="105156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4F46E5"/>
            </a:solidFill>
          </a:ln>
        </p:spPr>
        <p:txBody>
          <a:bodyPr wrap="square" anchor="mid"/>
          <a:lstStyle/>
          <a:p>
            <a:pPr algn="ctr"/>
            <a:r>
              <a:rPr lang="zh-CN" sz="1200" b="0">
                <a:solidFill>
                  <a:srgbClr val="111827"/>
                </a:solidFill>
                <a:latin typeface="Microsoft YaHei"/>
                <a:ea typeface="Microsoft YaHei"/>
              </a:rPr>
              <a:t>execute_turn</a:t>
            </a:r>
          </a:p>
          <a:p>
            <a:pPr algn="ctr"/>
            <a:r>
              <a:rPr lang="zh-CN" sz="1200" b="0">
                <a:solidFill>
                  <a:srgbClr val="111827"/>
                </a:solidFill>
                <a:latin typeface="Microsoft YaHei"/>
                <a:ea typeface="Microsoft YaHei"/>
              </a:rPr>
              <a:t>stream_turn</a:t>
            </a:r>
          </a:p>
          <a:p>
            <a:pPr algn="ctr"/>
            <a:r>
              <a:rPr lang="zh-CN" sz="1200" b="0">
                <a:solidFill>
                  <a:srgbClr val="111827"/>
                </a:solidFill>
                <a:latin typeface="Microsoft YaHei"/>
                <a:ea typeface="Microsoft YaHei"/>
              </a:rPr>
              <a:t>state/history</a:t>
            </a:r>
          </a:p>
          <a:p>
            <a:pPr algn="ctr"/>
            <a:r>
              <a:rPr lang="zh-CN" sz="1200" b="0">
                <a:solidFill>
                  <a:srgbClr val="111827"/>
                </a:solidFill>
                <a:latin typeface="Microsoft YaHei"/>
                <a:ea typeface="Microsoft YaHei"/>
              </a:rPr>
              <a:t>observability</a:t>
            </a:r>
          </a:p>
        </p:txBody>
      </p:sp>
      <p:sp>
        <p:nvSpPr>
          <p:cNvPr id="16" name="?????"/>
          <p:cNvSpPr/>
          <p:nvPr/>
        </p:nvSpPr>
        <p:spPr>
          <a:xfrm>
            <a:off x="6080760" y="2743200"/>
            <a:ext cx="2148840" cy="411480"/>
          </a:xfrm>
          <a:prstGeom prst="roundRect">
            <a:avLst/>
          </a:prstGeom>
          <a:solidFill>
            <a:srgbClr val="F0FDF4"/>
          </a:solidFill>
          <a:ln w="12000">
            <a:solidFill>
              <a:srgbClr val="16A34A"/>
            </a:solidFill>
          </a:ln>
        </p:spPr>
        <p:txBody>
          <a:bodyPr wrap="square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Microsoft YaHei"/>
                <a:ea typeface="Microsoft YaHei"/>
              </a:rPr>
              <a:t>?????</a:t>
            </a:r>
          </a:p>
        </p:txBody>
      </p:sp>
      <p:sp>
        <p:nvSpPr>
          <p:cNvPr id="17" name="create_deep_agent find_tax_authorities analyze_tax_question response_format"/>
          <p:cNvSpPr/>
          <p:nvPr/>
        </p:nvSpPr>
        <p:spPr>
          <a:xfrm>
            <a:off x="6080760" y="3246120"/>
            <a:ext cx="2148840" cy="105156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16A34A"/>
            </a:solidFill>
          </a:ln>
        </p:spPr>
        <p:txBody>
          <a:bodyPr wrap="square" anchor="mid"/>
          <a:lstStyle/>
          <a:p>
            <a:pPr algn="ctr"/>
            <a:r>
              <a:rPr lang="zh-CN" sz="1200" b="0">
                <a:solidFill>
                  <a:srgbClr val="111827"/>
                </a:solidFill>
                <a:latin typeface="Microsoft YaHei"/>
                <a:ea typeface="Microsoft YaHei"/>
              </a:rPr>
              <a:t>create_deep_agent</a:t>
            </a:r>
          </a:p>
          <a:p>
            <a:pPr algn="ctr"/>
            <a:r>
              <a:rPr lang="zh-CN" sz="1200" b="0">
                <a:solidFill>
                  <a:srgbClr val="111827"/>
                </a:solidFill>
                <a:latin typeface="Microsoft YaHei"/>
                <a:ea typeface="Microsoft YaHei"/>
              </a:rPr>
              <a:t>find_tax_authorities</a:t>
            </a:r>
          </a:p>
          <a:p>
            <a:pPr algn="ctr"/>
            <a:r>
              <a:rPr lang="zh-CN" sz="1200" b="0">
                <a:solidFill>
                  <a:srgbClr val="111827"/>
                </a:solidFill>
                <a:latin typeface="Microsoft YaHei"/>
                <a:ea typeface="Microsoft YaHei"/>
              </a:rPr>
              <a:t>analyze_tax_question</a:t>
            </a:r>
          </a:p>
          <a:p>
            <a:pPr algn="ctr"/>
            <a:r>
              <a:rPr lang="zh-CN" sz="1200" b="0">
                <a:solidFill>
                  <a:srgbClr val="111827"/>
                </a:solidFill>
                <a:latin typeface="Microsoft YaHei"/>
                <a:ea typeface="Microsoft YaHei"/>
              </a:rPr>
              <a:t>response_format</a:t>
            </a:r>
          </a:p>
        </p:txBody>
      </p:sp>
      <p:sp>
        <p:nvSpPr>
          <p:cNvPr id="18" name="????"/>
          <p:cNvSpPr/>
          <p:nvPr/>
        </p:nvSpPr>
        <p:spPr>
          <a:xfrm>
            <a:off x="8823960" y="2743200"/>
            <a:ext cx="2148840" cy="411480"/>
          </a:xfrm>
          <a:prstGeom prst="roundRect">
            <a:avLst/>
          </a:prstGeom>
          <a:solidFill>
            <a:srgbClr val="FFFBEB"/>
          </a:solidFill>
          <a:ln w="12000">
            <a:solidFill>
              <a:srgbClr val="D97706"/>
            </a:solidFill>
          </a:ln>
        </p:spPr>
        <p:txBody>
          <a:bodyPr wrap="square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Microsoft YaHei"/>
                <a:ea typeface="Microsoft YaHei"/>
              </a:rPr>
              <a:t>????</a:t>
            </a:r>
          </a:p>
        </p:txBody>
      </p:sp>
      <p:sp>
        <p:nvSpPr>
          <p:cNvPr id="19" name="TaxAnswer ReferenceBundle Citation Intent / Context"/>
          <p:cNvSpPr/>
          <p:nvPr/>
        </p:nvSpPr>
        <p:spPr>
          <a:xfrm>
            <a:off x="8823960" y="3246120"/>
            <a:ext cx="2148840" cy="105156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97706"/>
            </a:solidFill>
          </a:ln>
        </p:spPr>
        <p:txBody>
          <a:bodyPr wrap="square" anchor="mid"/>
          <a:lstStyle/>
          <a:p>
            <a:pPr algn="ctr"/>
            <a:r>
              <a:rPr lang="zh-CN" sz="1200" b="0">
                <a:solidFill>
                  <a:srgbClr val="111827"/>
                </a:solidFill>
                <a:latin typeface="Microsoft YaHei"/>
                <a:ea typeface="Microsoft YaHei"/>
              </a:rPr>
              <a:t>TaxAnswer</a:t>
            </a:r>
          </a:p>
          <a:p>
            <a:pPr algn="ctr"/>
            <a:r>
              <a:rPr lang="zh-CN" sz="1200" b="0">
                <a:solidFill>
                  <a:srgbClr val="111827"/>
                </a:solidFill>
                <a:latin typeface="Microsoft YaHei"/>
                <a:ea typeface="Microsoft YaHei"/>
              </a:rPr>
              <a:t>ReferenceBundle</a:t>
            </a:r>
          </a:p>
          <a:p>
            <a:pPr algn="ctr"/>
            <a:r>
              <a:rPr lang="zh-CN" sz="1200" b="0">
                <a:solidFill>
                  <a:srgbClr val="111827"/>
                </a:solidFill>
                <a:latin typeface="Microsoft YaHei"/>
                <a:ea typeface="Microsoft YaHei"/>
              </a:rPr>
              <a:t>Citation</a:t>
            </a:r>
          </a:p>
          <a:p>
            <a:pPr algn="ctr"/>
            <a:r>
              <a:rPr lang="zh-CN" sz="1200" b="0">
                <a:solidFill>
                  <a:srgbClr val="111827"/>
                </a:solidFill>
                <a:latin typeface="Microsoft YaHei"/>
                <a:ea typeface="Microsoft YaHei"/>
              </a:rPr>
              <a:t>Intent / Context</a:t>
            </a:r>
          </a:p>
        </p:txBody>
      </p:sp>
      <p:sp>
        <p:nvSpPr>
          <p:cNvPr id="20" name="substrate"/>
          <p:cNvSpPr/>
          <p:nvPr/>
        </p:nvSpPr>
        <p:spPr>
          <a:xfrm>
            <a:off x="594360" y="5029200"/>
            <a:ext cx="10698480" cy="777240"/>
          </a:xfrm>
          <a:prstGeom prst="roundRect">
            <a:avLst/>
          </a:prstGeom>
          <a:solidFill>
            <a:srgbClr val="F1F5F9"/>
          </a:solidFill>
          <a:ln w="12000">
            <a:solidFill>
              <a:srgbClr val="CBD5E1"/>
            </a:solidFill>
          </a:ln>
        </p:spPr>
        <p:txBody>
          <a:bodyPr wrap="square" anchor="mid"/>
          <a:lstStyle/>
          <a:p>
            <a:pPr algn="ctr"/>
            <a:r>
              <a:rPr lang="zh-CN" sz="1500" b="1">
                <a:solidFill>
                  <a:srgbClr val="111827"/>
                </a:solidFill>
                <a:latin typeface="Microsoft YaHei"/>
                <a:ea typeface="Microsoft YaHei"/>
              </a:rPr>
              <a:t>DeepAgents / LangGraph substrate?planning ? tool calling ? skills ? memory ? filesystem ? checkpoint</a:t>
            </a:r>
          </a:p>
        </p:txBody>
      </p:sp>
      <p:sp>
        <p:nvSpPr>
          <p:cNvPr id="21" name="note"/>
          <p:cNvSpPr txBox="1"/>
          <p:nvPr/>
        </p:nvSpPr>
        <p:spPr>
          <a:xfrm>
            <a:off x="640080" y="5870448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zh-CN" sz="1200" b="0">
                <a:solidFill>
                  <a:srgbClr val="64748B"/>
                </a:solidFill>
                <a:latin typeface="Microsoft YaHei"/>
                <a:ea typeface="Microsoft YaHei"/>
              </a:rPr>
              <a:t>??????????????????? Agent??DeepAgents/LangGraph ????????????????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000">
            <a:solidFill>
              <a:srgbClr val="F8FAFC"/>
            </a:solidFill>
          </a:ln>
        </p:spPr>
        <p:txBody>
          <a:bodyPr wrap="square" anchor="mid"/>
          <a:lstStyle/>
          <a:p>
            <a:pPr algn="ctr"/>
            <a:r>
              <a:rPr lang="zh-CN" sz="1400" b="0">
                <a:solidFill>
                  <a:srgbClr val="1118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zh-CN" sz="3000" b="1">
                <a:solidFill>
                  <a:srgbClr val="0F172A"/>
                </a:solidFill>
                <a:latin typeface="Microsoft YaHei"/>
                <a:ea typeface="Microsoft YaHei"/>
              </a:rPr>
              <a:t>TRP Agent ??????</a:t>
            </a:r>
          </a:p>
        </p:txBody>
      </p:sp>
      <p:sp>
        <p:nvSpPr>
          <p:cNvPr id="4" name="sub"/>
          <p:cNvSpPr txBox="1"/>
          <p:nvPr/>
        </p:nvSpPr>
        <p:spPr>
          <a:xfrm>
            <a:off x="429768" y="71323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zh-CN" sz="1300" b="0">
                <a:solidFill>
                  <a:srgbClr val="475569"/>
                </a:solidFill>
                <a:latin typeface="Microsoft YaHei"/>
                <a:ea typeface="Microsoft YaHei"/>
              </a:rPr>
              <a:t>?????? ConversationRequest?? Runtime ???? JSON?AG-UI SSE ??????</a:t>
            </a:r>
          </a:p>
        </p:txBody>
      </p:sp>
      <p:sp>
        <p:nvSpPr>
          <p:cNvPr id="5" name="/chat ?? JSON"/>
          <p:cNvSpPr/>
          <p:nvPr/>
        </p:nvSpPr>
        <p:spPr>
          <a:xfrm>
            <a:off x="502920" y="1325880"/>
            <a:ext cx="1965960" cy="713232"/>
          </a:xfrm>
          <a:prstGeom prst="roundRect">
            <a:avLst/>
          </a:prstGeom>
          <a:solidFill>
            <a:srgbClr val="DBEAFE"/>
          </a:solidFill>
          <a:ln w="120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Microsoft YaHei"/>
                <a:ea typeface="Microsoft YaHei"/>
              </a:rPr>
              <a:t>/chat</a:t>
            </a:r>
          </a:p>
          <a:p>
            <a:pPr algn="ctr"/>
            <a:r>
              <a:rPr lang="zh-CN" sz="1400" b="1">
                <a:solidFill>
                  <a:srgbClr val="111827"/>
                </a:solidFill>
                <a:latin typeface="Microsoft YaHei"/>
                <a:ea typeface="Microsoft YaHei"/>
              </a:rPr>
              <a:t>?? JSON</a:t>
            </a:r>
          </a:p>
        </p:txBody>
      </p:sp>
      <p:cxnSp>
        <p:nvCxnSpPr>
          <p:cNvPr id="6" name="route"/>
          <p:cNvCxnSpPr/>
          <p:nvPr/>
        </p:nvCxnSpPr>
        <p:spPr>
          <a:xfrm>
            <a:off x="2468880" y="1682495"/>
            <a:ext cx="502920" cy="969265"/>
          </a:xfrm>
          <a:prstGeom prst="straightConnector1">
            <a:avLst/>
          </a:prstGeom>
          <a:ln w="22000">
            <a:solidFill>
              <a:srgbClr val="64748B"/>
            </a:solidFill>
            <a:headEnd type="triangle"/>
          </a:ln>
        </p:spPr>
      </p:cxnSp>
      <p:sp>
        <p:nvSpPr>
          <p:cNvPr id="7" name="/chat/stream AG-UI SSE"/>
          <p:cNvSpPr/>
          <p:nvPr/>
        </p:nvSpPr>
        <p:spPr>
          <a:xfrm>
            <a:off x="502920" y="2423160"/>
            <a:ext cx="1965960" cy="713232"/>
          </a:xfrm>
          <a:prstGeom prst="roundRect">
            <a:avLst/>
          </a:prstGeom>
          <a:solidFill>
            <a:srgbClr val="E0F2FE"/>
          </a:solidFill>
          <a:ln w="12000">
            <a:solidFill>
              <a:srgbClr val="0284C7"/>
            </a:solidFill>
          </a:ln>
        </p:spPr>
        <p:txBody>
          <a:bodyPr wrap="square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Microsoft YaHei"/>
                <a:ea typeface="Microsoft YaHei"/>
              </a:rPr>
              <a:t>/chat/stream</a:t>
            </a:r>
          </a:p>
          <a:p>
            <a:pPr algn="ctr"/>
            <a:r>
              <a:rPr lang="zh-CN" sz="1400" b="1">
                <a:solidFill>
                  <a:srgbClr val="111827"/>
                </a:solidFill>
                <a:latin typeface="Microsoft YaHei"/>
                <a:ea typeface="Microsoft YaHei"/>
              </a:rPr>
              <a:t>AG-UI SSE</a:t>
            </a:r>
          </a:p>
        </p:txBody>
      </p:sp>
      <p:cxnSp>
        <p:nvCxnSpPr>
          <p:cNvPr id="8" name="route"/>
          <p:cNvCxnSpPr/>
          <p:nvPr/>
        </p:nvCxnSpPr>
        <p:spPr>
          <a:xfrm flipV="1">
            <a:off x="2468880" y="2651760"/>
            <a:ext cx="502920" cy="128016"/>
          </a:xfrm>
          <a:prstGeom prst="straightConnector1">
            <a:avLst/>
          </a:prstGeom>
          <a:ln w="22000">
            <a:solidFill>
              <a:srgbClr val="64748B"/>
            </a:solidFill>
            <a:headEnd type="triangle"/>
          </a:ln>
        </p:spPr>
      </p:cxnSp>
      <p:sp>
        <p:nvSpPr>
          <p:cNvPr id="9" name="/batch / CLI Markdown + JSON"/>
          <p:cNvSpPr/>
          <p:nvPr/>
        </p:nvSpPr>
        <p:spPr>
          <a:xfrm>
            <a:off x="502920" y="3520440"/>
            <a:ext cx="1965960" cy="713232"/>
          </a:xfrm>
          <a:prstGeom prst="roundRect">
            <a:avLst/>
          </a:prstGeom>
          <a:solidFill>
            <a:srgbClr val="ECFDF5"/>
          </a:solidFill>
          <a:ln w="12000">
            <a:solidFill>
              <a:srgbClr val="059669"/>
            </a:solidFill>
          </a:ln>
        </p:spPr>
        <p:txBody>
          <a:bodyPr wrap="square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Microsoft YaHei"/>
                <a:ea typeface="Microsoft YaHei"/>
              </a:rPr>
              <a:t>/batch / CLI</a:t>
            </a:r>
          </a:p>
          <a:p>
            <a:pPr algn="ctr"/>
            <a:r>
              <a:rPr lang="zh-CN" sz="1400" b="1">
                <a:solidFill>
                  <a:srgbClr val="111827"/>
                </a:solidFill>
                <a:latin typeface="Microsoft YaHei"/>
                <a:ea typeface="Microsoft YaHei"/>
              </a:rPr>
              <a:t>Markdown + JSON</a:t>
            </a:r>
          </a:p>
        </p:txBody>
      </p:sp>
      <p:cxnSp>
        <p:nvCxnSpPr>
          <p:cNvPr id="10" name="route"/>
          <p:cNvCxnSpPr/>
          <p:nvPr/>
        </p:nvCxnSpPr>
        <p:spPr>
          <a:xfrm flipV="1">
            <a:off x="2468880" y="2651760"/>
            <a:ext cx="502920" cy="1225296"/>
          </a:xfrm>
          <a:prstGeom prst="straightConnector1">
            <a:avLst/>
          </a:prstGeom>
          <a:ln w="22000">
            <a:solidFill>
              <a:srgbClr val="64748B"/>
            </a:solidFill>
            <a:headEnd type="triangle"/>
          </a:ln>
        </p:spPr>
      </p:cxnSp>
      <p:sp>
        <p:nvSpPr>
          <p:cNvPr id="11" name="request"/>
          <p:cNvSpPr/>
          <p:nvPr/>
        </p:nvSpPr>
        <p:spPr>
          <a:xfrm>
            <a:off x="2971800" y="2148840"/>
            <a:ext cx="2011680" cy="100584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64748B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Microsoft YaHei"/>
                <a:ea typeface="Microsoft YaHei"/>
              </a:rPr>
              <a:t>ConversationRequest</a:t>
            </a:r>
          </a:p>
          <a:p>
            <a:pPr algn="ctr"/>
            <a:r>
              <a:rPr lang="zh-CN" sz="1300" b="1">
                <a:solidFill>
                  <a:srgbClr val="111827"/>
                </a:solidFill>
                <a:latin typeface="Microsoft YaHei"/>
                <a:ea typeface="Microsoft YaHei"/>
              </a:rPr>
              <a:t>messages ? session_id</a:t>
            </a:r>
          </a:p>
          <a:p>
            <a:pPr algn="ctr"/>
            <a:r>
              <a:rPr lang="zh-CN" sz="1300" b="1">
                <a:solidFill>
                  <a:srgbClr val="111827"/>
                </a:solidFill>
                <a:latin typeface="Microsoft YaHei"/>
                <a:ea typeface="Microsoft YaHei"/>
              </a:rPr>
              <a:t>trace_id ? thread_id</a:t>
            </a:r>
          </a:p>
        </p:txBody>
      </p:sp>
      <p:cxnSp>
        <p:nvCxnSpPr>
          <p:cNvPr id="12" name="req-exec"/>
          <p:cNvCxnSpPr/>
          <p:nvPr/>
        </p:nvCxnSpPr>
        <p:spPr>
          <a:xfrm>
            <a:off x="4983480" y="2651760"/>
            <a:ext cx="548640" cy="1"/>
          </a:xfrm>
          <a:prstGeom prst="straightConnector1">
            <a:avLst/>
          </a:prstGeom>
          <a:ln w="22000">
            <a:solidFill>
              <a:srgbClr val="64748B"/>
            </a:solidFill>
            <a:headEnd type="triangle"/>
          </a:ln>
        </p:spPr>
      </p:cxnSp>
      <p:sp>
        <p:nvSpPr>
          <p:cNvPr id="13" name="executor"/>
          <p:cNvSpPr/>
          <p:nvPr/>
        </p:nvSpPr>
        <p:spPr>
          <a:xfrm>
            <a:off x="5532120" y="1783080"/>
            <a:ext cx="2011680" cy="1737360"/>
          </a:xfrm>
          <a:prstGeom prst="roundRect">
            <a:avLst/>
          </a:prstGeom>
          <a:solidFill>
            <a:srgbClr val="EEF2FF"/>
          </a:solidFill>
          <a:ln w="12000">
            <a:solidFill>
              <a:srgbClr val="4F46E5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Microsoft YaHei"/>
                <a:ea typeface="Microsoft YaHei"/>
              </a:rPr>
              <a:t>runtime/executor.py</a:t>
            </a:r>
          </a:p>
          <a:p>
            <a:pPr algn="ctr"/>
            <a:r>
              <a:rPr lang="zh-CN" sz="1300" b="1">
                <a:solidFill>
                  <a:srgbClr val="111827"/>
                </a:solidFill>
                <a:latin typeface="Microsoft YaHei"/>
                <a:ea typeface="Microsoft YaHei"/>
              </a:rPr>
              <a:t>execute_turn()</a:t>
            </a:r>
          </a:p>
          <a:p>
            <a:pPr algn="ctr"/>
            <a:r>
              <a:rPr lang="zh-CN" sz="1300" b="1">
                <a:solidFill>
                  <a:srgbClr val="111827"/>
                </a:solidFill>
                <a:latin typeface="Microsoft YaHei"/>
                <a:ea typeface="Microsoft YaHei"/>
              </a:rPr>
              <a:t>stream_turn()</a:t>
            </a:r>
          </a:p>
          <a:p>
            <a:pPr algn="ctr"/>
            <a:r>
              <a:rPr lang="zh-CN" sz="1300" b="1">
                <a:solidFill>
                  <a:srgbClr val="111827"/>
                </a:solidFill>
                <a:latin typeface="Microsoft YaHei"/>
                <a:ea typeface="Microsoft YaHei"/>
              </a:rPr>
              <a:t>get_state/history</a:t>
            </a:r>
          </a:p>
        </p:txBody>
      </p:sp>
      <p:cxnSp>
        <p:nvCxnSpPr>
          <p:cNvPr id="14" name="exec-agent"/>
          <p:cNvCxnSpPr/>
          <p:nvPr/>
        </p:nvCxnSpPr>
        <p:spPr>
          <a:xfrm>
            <a:off x="7543800" y="2651760"/>
            <a:ext cx="594360" cy="1"/>
          </a:xfrm>
          <a:prstGeom prst="straightConnector1">
            <a:avLst/>
          </a:prstGeom>
          <a:ln w="22000">
            <a:solidFill>
              <a:srgbClr val="64748B"/>
            </a:solidFill>
            <a:headEnd type="triangle"/>
          </a:ln>
        </p:spPr>
      </p:cxnSp>
      <p:sp>
        <p:nvSpPr>
          <p:cNvPr id="15" name="agent"/>
          <p:cNvSpPr/>
          <p:nvPr/>
        </p:nvSpPr>
        <p:spPr>
          <a:xfrm>
            <a:off x="8138160" y="1783080"/>
            <a:ext cx="2514600" cy="1737360"/>
          </a:xfrm>
          <a:prstGeom prst="roundRect">
            <a:avLst/>
          </a:prstGeom>
          <a:solidFill>
            <a:srgbClr val="F0FDF4"/>
          </a:solidFill>
          <a:ln w="12000">
            <a:solidFill>
              <a:srgbClr val="16A34A"/>
            </a:solidFill>
          </a:ln>
        </p:spPr>
        <p:txBody>
          <a:bodyPr wrap="square" anchor="mid"/>
          <a:lstStyle/>
          <a:p>
            <a:pPr algn="ctr"/>
            <a:r>
              <a:rPr lang="zh-CN" sz="1300" b="1">
                <a:solidFill>
                  <a:srgbClr val="111827"/>
                </a:solidFill>
                <a:latin typeface="Microsoft YaHei"/>
                <a:ea typeface="Microsoft YaHei"/>
              </a:rPr>
              <a:t>DeepAgents Agent</a:t>
            </a:r>
          </a:p>
          <a:p>
            <a:pPr algn="ctr"/>
            <a:r>
              <a:rPr lang="zh-CN" sz="1300" b="1">
                <a:solidFill>
                  <a:srgbClr val="111827"/>
                </a:solidFill>
                <a:latin typeface="Microsoft YaHei"/>
                <a:ea typeface="Microsoft YaHei"/>
              </a:rPr>
              <a:t>ainvoke / astream_events</a:t>
            </a:r>
          </a:p>
          <a:p>
            <a:pPr algn="ctr"/>
            <a:r>
              <a:rPr lang="zh-CN" sz="1300" b="1">
                <a:solidFill>
                  <a:srgbClr val="111827"/>
                </a:solidFill>
                <a:latin typeface="Microsoft YaHei"/>
                <a:ea typeface="Microsoft YaHei"/>
              </a:rPr>
              <a:t>response_format=TaxAnswer</a:t>
            </a:r>
          </a:p>
        </p:txBody>
      </p:sp>
      <p:sp>
        <p:nvSpPr>
          <p:cNvPr id="16" name="tools"/>
          <p:cNvSpPr/>
          <p:nvPr/>
        </p:nvSpPr>
        <p:spPr>
          <a:xfrm>
            <a:off x="8138160" y="4069080"/>
            <a:ext cx="2514600" cy="868680"/>
          </a:xfrm>
          <a:prstGeom prst="roundRect">
            <a:avLst/>
          </a:prstGeom>
          <a:solidFill>
            <a:srgbClr val="FFFBEB"/>
          </a:solidFill>
          <a:ln w="12000">
            <a:solidFill>
              <a:srgbClr val="D97706"/>
            </a:solidFill>
          </a:ln>
        </p:spPr>
        <p:txBody>
          <a:bodyPr wrap="square" anchor="mid"/>
          <a:lstStyle/>
          <a:p>
            <a:pPr algn="ctr"/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business tools</a:t>
            </a:r>
          </a:p>
          <a:p>
            <a:pPr algn="ctr"/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find_tax_authorities ? analyze_tax_question</a:t>
            </a:r>
          </a:p>
        </p:txBody>
      </p:sp>
      <p:cxnSp>
        <p:nvCxnSpPr>
          <p:cNvPr id="17" name="agent-tools"/>
          <p:cNvCxnSpPr/>
          <p:nvPr/>
        </p:nvCxnSpPr>
        <p:spPr>
          <a:xfrm>
            <a:off x="9372600" y="3520440"/>
            <a:ext cx="1" cy="548640"/>
          </a:xfrm>
          <a:prstGeom prst="straightConnector1">
            <a:avLst/>
          </a:prstGeom>
          <a:ln w="22000">
            <a:solidFill>
              <a:srgbClr val="D97706"/>
            </a:solidFill>
            <a:headEnd type="triangle"/>
          </a:ln>
        </p:spPr>
      </p:cxnSp>
      <p:sp>
        <p:nvSpPr>
          <p:cNvPr id="18" name="checkpoint"/>
          <p:cNvSpPr/>
          <p:nvPr/>
        </p:nvSpPr>
        <p:spPr>
          <a:xfrm>
            <a:off x="5532120" y="4069080"/>
            <a:ext cx="2011680" cy="868680"/>
          </a:xfrm>
          <a:prstGeom prst="roundRect">
            <a:avLst/>
          </a:prstGeom>
          <a:solidFill>
            <a:srgbClr val="F1F5F9"/>
          </a:solidFill>
          <a:ln w="12000">
            <a:solidFill>
              <a:srgbClr val="64748B"/>
            </a:solidFill>
          </a:ln>
        </p:spPr>
        <p:txBody>
          <a:bodyPr wrap="square" anchor="mid"/>
          <a:lstStyle/>
          <a:p>
            <a:pPr algn="ctr"/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LangGraph checkpoint</a:t>
            </a:r>
          </a:p>
          <a:p>
            <a:pPr algn="ctr"/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SQLite / OpenGauss</a:t>
            </a:r>
          </a:p>
        </p:txBody>
      </p:sp>
      <p:cxnSp>
        <p:nvCxnSpPr>
          <p:cNvPr id="19" name="exec-check"/>
          <p:cNvCxnSpPr/>
          <p:nvPr/>
        </p:nvCxnSpPr>
        <p:spPr>
          <a:xfrm>
            <a:off x="6537960" y="3520440"/>
            <a:ext cx="1" cy="548640"/>
          </a:xfrm>
          <a:prstGeom prst="straightConnector1">
            <a:avLst/>
          </a:prstGeom>
          <a:ln w="22000">
            <a:solidFill>
              <a:srgbClr val="64748B"/>
            </a:solidFill>
            <a:headEnd type="triangle"/>
          </a:ln>
        </p:spPr>
      </p:cxnSp>
      <p:sp>
        <p:nvSpPr>
          <p:cNvPr id="20" name="obs"/>
          <p:cNvSpPr/>
          <p:nvPr/>
        </p:nvSpPr>
        <p:spPr>
          <a:xfrm>
            <a:off x="2971800" y="4069080"/>
            <a:ext cx="2011680" cy="868680"/>
          </a:xfrm>
          <a:prstGeom prst="roundRect">
            <a:avLst/>
          </a:prstGeom>
          <a:solidFill>
            <a:srgbClr val="FDF2F8"/>
          </a:solidFill>
          <a:ln w="12000">
            <a:solidFill>
              <a:srgbClr val="DB2777"/>
            </a:solidFill>
          </a:ln>
        </p:spPr>
        <p:txBody>
          <a:bodyPr wrap="square" anchor="mid"/>
          <a:lstStyle/>
          <a:p>
            <a:pPr algn="ctr"/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Langfuse observability</a:t>
            </a:r>
          </a:p>
          <a:p>
            <a:pPr algn="ctr"/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callbacks / metadata / tags</a:t>
            </a:r>
          </a:p>
        </p:txBody>
      </p:sp>
      <p:cxnSp>
        <p:nvCxnSpPr>
          <p:cNvPr id="21" name="exec-obs"/>
          <p:cNvCxnSpPr/>
          <p:nvPr/>
        </p:nvCxnSpPr>
        <p:spPr>
          <a:xfrm flipH="1">
            <a:off x="4983480" y="3246120"/>
            <a:ext cx="548640" cy="822960"/>
          </a:xfrm>
          <a:prstGeom prst="straightConnector1">
            <a:avLst/>
          </a:prstGeom>
          <a:ln w="22000">
            <a:solidFill>
              <a:srgbClr val="DB2777"/>
            </a:solidFill>
            <a:headEnd type="triangle"/>
          </a:ln>
        </p:spPr>
      </p:cxnSp>
      <p:sp>
        <p:nvSpPr>
          <p:cNvPr id="22" name="ChatResponse answer + citations + artifact"/>
          <p:cNvSpPr/>
          <p:nvPr/>
        </p:nvSpPr>
        <p:spPr>
          <a:xfrm>
            <a:off x="777240" y="5440680"/>
            <a:ext cx="2651760" cy="658368"/>
          </a:xfrm>
          <a:prstGeom prst="roundRect">
            <a:avLst/>
          </a:prstGeom>
          <a:solidFill>
            <a:srgbClr val="DBEAFE"/>
          </a:solidFill>
          <a:ln w="12000">
            <a:solidFill>
              <a:srgbClr val="2563EB"/>
            </a:solidFill>
          </a:ln>
        </p:spPr>
        <p:txBody>
          <a:bodyPr wrap="square" anchor="mid"/>
          <a:lstStyle/>
          <a:p>
            <a:pPr algn="ctr"/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ChatResponse</a:t>
            </a:r>
          </a:p>
          <a:p>
            <a:pPr algn="ctr"/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answer + citations + artifact</a:t>
            </a:r>
          </a:p>
        </p:txBody>
      </p:sp>
      <p:sp>
        <p:nvSpPr>
          <p:cNvPr id="23" name="AG-UI events RUN / TEXT / TOOL / RESULT"/>
          <p:cNvSpPr/>
          <p:nvPr/>
        </p:nvSpPr>
        <p:spPr>
          <a:xfrm>
            <a:off x="3931920" y="5440680"/>
            <a:ext cx="2651760" cy="658368"/>
          </a:xfrm>
          <a:prstGeom prst="roundRect">
            <a:avLst/>
          </a:prstGeom>
          <a:solidFill>
            <a:srgbClr val="E0F2FE"/>
          </a:solidFill>
          <a:ln w="12000">
            <a:solidFill>
              <a:srgbClr val="0284C7"/>
            </a:solidFill>
          </a:ln>
        </p:spPr>
        <p:txBody>
          <a:bodyPr wrap="square" anchor="mid"/>
          <a:lstStyle/>
          <a:p>
            <a:pPr algn="ctr"/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AG-UI events</a:t>
            </a:r>
          </a:p>
          <a:p>
            <a:pPr algn="ctr"/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RUN / TEXT / TOOL / RESULT</a:t>
            </a:r>
          </a:p>
        </p:txBody>
      </p:sp>
      <p:sp>
        <p:nvSpPr>
          <p:cNvPr id="24" name="Batch reports Markdown + JSON"/>
          <p:cNvSpPr/>
          <p:nvPr/>
        </p:nvSpPr>
        <p:spPr>
          <a:xfrm>
            <a:off x="7086600" y="5440680"/>
            <a:ext cx="2651760" cy="658368"/>
          </a:xfrm>
          <a:prstGeom prst="roundRect">
            <a:avLst/>
          </a:prstGeom>
          <a:solidFill>
            <a:srgbClr val="ECFDF5"/>
          </a:solidFill>
          <a:ln w="12000">
            <a:solidFill>
              <a:srgbClr val="059669"/>
            </a:solidFill>
          </a:ln>
        </p:spPr>
        <p:txBody>
          <a:bodyPr wrap="square" anchor="mid"/>
          <a:lstStyle/>
          <a:p>
            <a:pPr algn="ctr"/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Batch reports</a:t>
            </a:r>
          </a:p>
          <a:p>
            <a:pPr algn="ctr"/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Markdown + JSON</a:t>
            </a:r>
          </a:p>
        </p:txBody>
      </p:sp>
      <p:sp>
        <p:nvSpPr>
          <p:cNvPr id="25" name="note"/>
          <p:cNvSpPr txBox="1"/>
          <p:nvPr/>
        </p:nvSpPr>
        <p:spPr>
          <a:xfrm>
            <a:off x="594360" y="617220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zh-CN" sz="1100" b="0">
                <a:solidFill>
                  <a:srgbClr val="64748B"/>
                </a:solidFill>
                <a:latin typeface="Microsoft YaHei"/>
                <a:ea typeface="Microsoft YaHei"/>
              </a:rPr>
              <a:t>AG-UI ???????????SSE ??????????????runtime/sse.py ????????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P">
  <a:themeElements>
    <a:clrScheme name="TRP">
      <a:dk1>
        <a:srgbClr val="111827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16A34A"/>
      </a:accent2>
      <a:accent3>
        <a:srgbClr val="D97706"/>
      </a:accent3>
      <a:accent4>
        <a:srgbClr val="4F46E5"/>
      </a:accent4>
      <a:accent5>
        <a:srgbClr val="DB2777"/>
      </a:accent5>
      <a:accent6>
        <a:srgbClr val="0284C7"/>
      </a:accent6>
      <a:hlink>
        <a:srgbClr val="2563EB"/>
      </a:hlink>
      <a:folHlink>
        <a:srgbClr val="7C3AED"/>
      </a:folHlink>
    </a:clrScheme>
    <a:fontScheme name="TRP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TRP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